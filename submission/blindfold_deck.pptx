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20000"/>
          </a:blip>
          <a:stretch>
            <a:fillRect/>
          </a:stretch>
        </p:blipFill>
        <p:spPr>
          <a:xfrm>
            <a:off x="8549640" y="960120"/>
            <a:ext cx="2834640" cy="2834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1325880"/>
            <a:ext cx="1371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dirty="0">
                <a:solidFill>
                  <a:srgbClr val="000000"/>
                </a:solidFill>
              </a:rPr>
              <a:t>🙈</a:t>
            </a:r>
            <a:endParaRPr lang="en-US" sz="6400" dirty="0"/>
          </a:p>
        </p:txBody>
      </p:sp>
      <p:sp>
        <p:nvSpPr>
          <p:cNvPr id="5" name="Text 2"/>
          <p:cNvSpPr/>
          <p:nvPr/>
        </p:nvSpPr>
        <p:spPr>
          <a:xfrm>
            <a:off x="1965960" y="1481328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spc="200" kern="0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BLINDFOLD</a:t>
            </a:r>
            <a:endParaRPr lang="en-US" sz="5800" dirty="0"/>
          </a:p>
        </p:txBody>
      </p:sp>
      <p:sp>
        <p:nvSpPr>
          <p:cNvPr id="6" name="Text 3"/>
          <p:cNvSpPr/>
          <p:nvPr/>
        </p:nvSpPr>
        <p:spPr>
          <a:xfrm>
            <a:off x="685800" y="251460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i="1" dirty="0">
                <a:solidFill>
                  <a:srgbClr val="5B8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the blind spot, blindly.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685800" y="3246120"/>
            <a:ext cx="8503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blind-audit harness + bilingual benchmark that measures the English→Vietnamese refusal gap inside a sealed enclave — so a lab, a safety org, and an auditor who don't trust each other can run one eval, and only a score comes out.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640080" y="5074920"/>
            <a:ext cx="45720" cy="1097280"/>
          </a:xfrm>
          <a:prstGeom prst="rect">
            <a:avLst/>
          </a:prstGeom>
          <a:solidFill>
            <a:srgbClr val="5B8DEF"/>
          </a:solidFill>
          <a:ln/>
        </p:spPr>
      </p:sp>
      <p:sp>
        <p:nvSpPr>
          <p:cNvPr id="9" name="Text 6"/>
          <p:cNvSpPr/>
          <p:nvPr/>
        </p:nvSpPr>
        <p:spPr>
          <a:xfrm>
            <a:off x="868680" y="507492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AI Safety Hackathon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Apart × AnToàn.AI  ·  Ho Chi Minh City</a:t>
            </a:r>
            <a:endParaRPr lang="en-US" sz="15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320" y="5650992"/>
            <a:ext cx="274320" cy="27432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41080" y="5632704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github.com/khoaguin/blindfold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Frontier labs red-team in English. Two blind spots open up.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121408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72768" y="21214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Global-South harms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960120" y="2788920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/ police-impersonation scams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“đắp lá” &amp; papaya-leaf cancer “cures”</a:t>
            </a:r>
            <a:endParaRPr lang="en-US" sz="14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Telegram job scams</a:t>
            </a:r>
            <a:endParaRPr lang="en-US" sz="14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50" i="1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 from English benchmarks.</a:t>
            </a:r>
            <a:endParaRPr lang="en-US" sz="1450" dirty="0"/>
          </a:p>
        </p:txBody>
      </p:sp>
      <p:sp>
        <p:nvSpPr>
          <p:cNvPr id="8" name="Shape 5"/>
          <p:cNvSpPr/>
          <p:nvPr/>
        </p:nvSpPr>
        <p:spPr>
          <a:xfrm>
            <a:off x="6263640" y="1828800"/>
            <a:ext cx="5257800" cy="2331720"/>
          </a:xfrm>
          <a:prstGeom prst="roundRect">
            <a:avLst>
              <a:gd name="adj" fmla="val 3137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2121408"/>
            <a:ext cx="502920" cy="5029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96328" y="2121408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non-English refusal gap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583680" y="2788920"/>
            <a:ext cx="4617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training is English-heavy. A model refuses a harmful prompt in English — then complies on the </a:t>
            </a:r>
            <a:pPr indent="0" marL="0">
              <a:lnSpc>
                <a:spcPct val="130000"/>
              </a:lnSpc>
              <a:buNone/>
            </a:pPr>
            <a:r>
              <a:rPr lang="en-US" sz="1600" b="1" i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identical</a:t>
            </a:r>
            <a:pPr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request in Vietnamese.</a:t>
            </a:r>
            <a:endParaRPr lang="en-US" sz="1600" dirty="0"/>
          </a:p>
        </p:txBody>
      </p:sp>
      <p:sp>
        <p:nvSpPr>
          <p:cNvPr id="12" name="Shape 8"/>
          <p:cNvSpPr/>
          <p:nvPr/>
        </p:nvSpPr>
        <p:spPr>
          <a:xfrm>
            <a:off x="640080" y="4480560"/>
            <a:ext cx="10908792" cy="1234440"/>
          </a:xfrm>
          <a:prstGeom prst="roundRect">
            <a:avLst>
              <a:gd name="adj" fmla="val 5926"/>
            </a:avLst>
          </a:prstGeom>
          <a:solidFill>
            <a:srgbClr val="111A33"/>
          </a:solidFill>
          <a:ln w="12700">
            <a:solidFill>
              <a:srgbClr val="5B8DE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4400" y="46817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CITED PROOF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914400" y="495604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BD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0.63%</a:t>
            </a:r>
            <a:pPr indent="0" marL="0">
              <a:buNone/>
            </a:pPr>
            <a:r>
              <a:rPr lang="en-US" sz="1500" dirty="0">
                <a:solidFill>
                  <a:srgbClr val="8A9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EN</a:t>
            </a:r>
            <a:pPr indent="0" marL="0">
              <a:buNone/>
            </a:pPr>
            <a:r>
              <a:rPr lang="en-US" sz="1500" dirty="0">
                <a:solidFill>
                  <a:srgbClr val="8A9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vs      </a:t>
            </a:r>
            <a:pPr indent="0" marL="0">
              <a:buNone/>
            </a:pPr>
            <a:r>
              <a:rPr lang="en-US" sz="30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7.94%</a:t>
            </a:r>
            <a:pPr indent="0" marL="0">
              <a:buNone/>
            </a:pPr>
            <a:r>
              <a:rPr lang="en-US" sz="1500" dirty="0">
                <a:solidFill>
                  <a:srgbClr val="8A97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VN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6217920" y="4736592"/>
            <a:ext cx="5120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unsafe-response rate on identical prompts.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 et al., Multilingual Jailbreak Challenges in LLMs, ICLR 2024.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09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TRUST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Auditing this needs three parties who won't share their secrets.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965960"/>
            <a:ext cx="3383280" cy="82296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20240" y="2377440"/>
            <a:ext cx="822960" cy="8229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Lab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640080" y="3721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model weights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05840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WEIGHTS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407408" y="1965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07408" y="1965960"/>
            <a:ext cx="3383280" cy="82296"/>
          </a:xfrm>
          <a:prstGeom prst="rect">
            <a:avLst/>
          </a:prstGeom>
          <a:solidFill>
            <a:srgbClr val="F2B541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87568" y="2377440"/>
            <a:ext cx="822960" cy="8229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407408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Safety Org</a:t>
            </a:r>
            <a:endParaRPr lang="en-US" sz="2100" dirty="0"/>
          </a:p>
        </p:txBody>
      </p:sp>
      <p:sp>
        <p:nvSpPr>
          <p:cNvPr id="14" name="Text 10"/>
          <p:cNvSpPr/>
          <p:nvPr/>
        </p:nvSpPr>
        <p:spPr>
          <a:xfrm>
            <a:off x="4407408" y="3721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VN benchmark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773168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F2B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PRIVATE PROMPTS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74736" y="1965960"/>
            <a:ext cx="3383280" cy="2651760"/>
          </a:xfrm>
          <a:prstGeom prst="roundRect">
            <a:avLst>
              <a:gd name="adj" fmla="val 2759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174736" y="1965960"/>
            <a:ext cx="3383280" cy="82296"/>
          </a:xfrm>
          <a:prstGeom prst="rect">
            <a:avLst/>
          </a:prstGeom>
          <a:solidFill>
            <a:srgbClr val="9B7BF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54896" y="2377440"/>
            <a:ext cx="822960" cy="82296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74736" y="3291840"/>
            <a:ext cx="3383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Auditor</a:t>
            </a:r>
            <a:endParaRPr lang="en-US" sz="2100" dirty="0"/>
          </a:p>
        </p:txBody>
      </p:sp>
      <p:sp>
        <p:nvSpPr>
          <p:cNvPr id="20" name="Text 15"/>
          <p:cNvSpPr/>
          <p:nvPr/>
        </p:nvSpPr>
        <p:spPr>
          <a:xfrm>
            <a:off x="8174736" y="372160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holds the eval code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8540496" y="417880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9B7B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EVAL LOGIC</a:t>
            </a:r>
            <a:endParaRPr lang="en-US" sz="110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5074920"/>
            <a:ext cx="502920" cy="50292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08760" y="5029200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Nobody will hand over their secret. </a:t>
            </a:r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weights to the org. No prompts to the lab. No data to anyone. So today, the audit simply doesn't happen.</a:t>
            </a:r>
            <a:endParaRPr lang="en-US" sz="160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09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OUR SOLUTION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blind-audit enclave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783080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 w="19050">
            <a:solidFill>
              <a:srgbClr val="5B8DE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03911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27048" y="1929384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weights</a:t>
            </a:r>
            <a:endParaRPr lang="en-US" sz="16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7248" y="2084832"/>
            <a:ext cx="502920" cy="36576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685800" y="2907792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 w="19050">
            <a:solidFill>
              <a:srgbClr val="F2B541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3163824"/>
            <a:ext cx="457200" cy="457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527048" y="3054096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org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benchmark</a:t>
            </a:r>
            <a:endParaRPr lang="en-US" sz="16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27248" y="3209544"/>
            <a:ext cx="502920" cy="365760"/>
          </a:xfrm>
          <a:prstGeom prst="rect">
            <a:avLst/>
          </a:prstGeom>
        </p:spPr>
      </p:pic>
      <p:sp>
        <p:nvSpPr>
          <p:cNvPr id="12" name="Shape 6"/>
          <p:cNvSpPr/>
          <p:nvPr/>
        </p:nvSpPr>
        <p:spPr>
          <a:xfrm>
            <a:off x="685800" y="4032504"/>
            <a:ext cx="2331720" cy="960120"/>
          </a:xfrm>
          <a:prstGeom prst="roundRect">
            <a:avLst>
              <a:gd name="adj" fmla="val 7619"/>
            </a:avLst>
          </a:prstGeom>
          <a:solidFill>
            <a:srgbClr val="16213E"/>
          </a:solidFill>
          <a:ln w="19050">
            <a:solidFill>
              <a:srgbClr val="9B7BF0"/>
            </a:solidFill>
            <a:prstDash val="solid"/>
          </a:ln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88536"/>
            <a:ext cx="457200" cy="45720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1527048" y="4178808"/>
            <a:ext cx="1417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 code</a:t>
            </a:r>
            <a:endParaRPr lang="en-US" sz="1600" dirty="0"/>
          </a:p>
        </p:txBody>
      </p:sp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27248" y="4334256"/>
            <a:ext cx="502920" cy="365760"/>
          </a:xfrm>
          <a:prstGeom prst="rect">
            <a:avLst/>
          </a:prstGeom>
        </p:spPr>
      </p:pic>
      <p:sp>
        <p:nvSpPr>
          <p:cNvPr id="16" name="Shape 8"/>
          <p:cNvSpPr/>
          <p:nvPr/>
        </p:nvSpPr>
        <p:spPr>
          <a:xfrm>
            <a:off x="3794760" y="1691640"/>
            <a:ext cx="4572000" cy="3520440"/>
          </a:xfrm>
          <a:prstGeom prst="roundRect">
            <a:avLst>
              <a:gd name="adj" fmla="val 3117"/>
            </a:avLst>
          </a:prstGeom>
          <a:solidFill>
            <a:srgbClr val="111A33"/>
          </a:solidFill>
          <a:ln w="31750">
            <a:solidFill>
              <a:srgbClr val="2BD17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15000" y="2011680"/>
            <a:ext cx="731520" cy="731520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3794760" y="2788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300" kern="0" dirty="0">
                <a:solidFill>
                  <a:srgbClr val="2BD1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SEALED ENCLAVE</a:t>
            </a:r>
            <a:endParaRPr lang="en-US" sz="1400" dirty="0"/>
          </a:p>
        </p:txBody>
      </p:sp>
      <p:sp>
        <p:nvSpPr>
          <p:cNvPr id="19" name="Text 10"/>
          <p:cNvSpPr/>
          <p:nvPr/>
        </p:nvSpPr>
        <p:spPr>
          <a:xfrm>
            <a:off x="4206240" y="3291840"/>
            <a:ext cx="37490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data owners review + approve the code</a:t>
            </a:r>
            <a:endParaRPr lang="en-US" sz="145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50" b="1" dirty="0">
                <a:solidFill>
                  <a:srgbClr val="F055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Either party can veto</a:t>
            </a:r>
            <a:endParaRPr lang="en-US" sz="1450" dirty="0"/>
          </a:p>
          <a:p>
            <a:pPr algn="ctr" indent="0" marL="0">
              <a:lnSpc>
                <a:spcPct val="110000"/>
              </a:lnSpc>
              <a:spcAft>
                <a:spcPts val="800"/>
              </a:spcAft>
              <a:buNone/>
            </a:pPr>
            <a:r>
              <a:rPr lang="en-US" sz="145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OpenMined syft-client</a:t>
            </a:r>
            <a:endParaRPr lang="en-US" sz="1450" dirty="0"/>
          </a:p>
        </p:txBody>
      </p:sp>
      <p:pic>
        <p:nvPicPr>
          <p:cNvPr id="2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58200" y="3268980"/>
            <a:ext cx="548640" cy="365760"/>
          </a:xfrm>
          <a:prstGeom prst="rect">
            <a:avLst/>
          </a:prstGeom>
        </p:spPr>
      </p:pic>
      <p:sp>
        <p:nvSpPr>
          <p:cNvPr id="21" name="Shape 11"/>
          <p:cNvSpPr/>
          <p:nvPr/>
        </p:nvSpPr>
        <p:spPr>
          <a:xfrm>
            <a:off x="9052560" y="2331720"/>
            <a:ext cx="2423160" cy="2240280"/>
          </a:xfrm>
          <a:prstGeom prst="roundRect">
            <a:avLst>
              <a:gd name="adj" fmla="val 4082"/>
            </a:avLst>
          </a:prstGeom>
          <a:solidFill>
            <a:srgbClr val="11341F"/>
          </a:solidFill>
          <a:ln w="25400">
            <a:solidFill>
              <a:srgbClr val="2BD17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2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44100" y="2606040"/>
            <a:ext cx="640080" cy="640080"/>
          </a:xfrm>
          <a:prstGeom prst="rect">
            <a:avLst/>
          </a:prstGeom>
        </p:spPr>
      </p:pic>
      <p:sp>
        <p:nvSpPr>
          <p:cNvPr id="23" name="Text 12"/>
          <p:cNvSpPr/>
          <p:nvPr/>
        </p:nvSpPr>
        <p:spPr>
          <a:xfrm>
            <a:off x="9052560" y="3337560"/>
            <a:ext cx="2423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Signed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scorecard</a:t>
            </a:r>
            <a:endParaRPr lang="en-US" sz="1800" dirty="0"/>
          </a:p>
        </p:txBody>
      </p:sp>
      <p:sp>
        <p:nvSpPr>
          <p:cNvPr id="24" name="Text 13"/>
          <p:cNvSpPr/>
          <p:nvPr/>
        </p:nvSpPr>
        <p:spPr>
          <a:xfrm>
            <a:off x="9052560" y="4087368"/>
            <a:ext cx="2423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B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thing that exits</a:t>
            </a:r>
            <a:endParaRPr lang="en-US" sz="1200" dirty="0"/>
          </a:p>
        </p:txBody>
      </p:sp>
      <p:sp>
        <p:nvSpPr>
          <p:cNvPr id="25" name="Shape 14"/>
          <p:cNvSpPr/>
          <p:nvPr/>
        </p:nvSpPr>
        <p:spPr>
          <a:xfrm>
            <a:off x="685800" y="5440680"/>
            <a:ext cx="10835640" cy="713232"/>
          </a:xfrm>
          <a:prstGeom prst="roundRect">
            <a:avLst>
              <a:gd name="adj" fmla="val 10256"/>
            </a:avLst>
          </a:prstGeom>
          <a:solidFill>
            <a:srgbClr val="111A33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26" name="Text 15"/>
          <p:cNvSpPr/>
          <p:nvPr/>
        </p:nvSpPr>
        <p:spPr>
          <a:xfrm>
            <a:off x="685800" y="5440680"/>
            <a:ext cx="10835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never sees prompts</a:t>
            </a:r>
            <a:pPr algn="ctr" indent="0" marL="0">
              <a:buNone/>
            </a:pPr>
            <a:r>
              <a:rPr lang="en-US" sz="16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6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never sees weights</a:t>
            </a:r>
            <a:pPr algn="ctr" indent="0" marL="0">
              <a:buNone/>
            </a:pPr>
            <a:r>
              <a:rPr lang="en-US" sz="16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algn="ctr" indent="0" marL="0">
              <a:buNone/>
            </a:pPr>
            <a:r>
              <a:rPr lang="en-US" sz="1600" b="1" dirty="0">
                <a:solidFill>
                  <a:srgbClr val="2BD1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Neither can game it</a:t>
            </a:r>
            <a:endParaRPr lang="en-US" sz="1600" dirty="0"/>
          </a:p>
        </p:txBody>
      </p:sp>
      <p:sp>
        <p:nvSpPr>
          <p:cNvPr id="27" name="Text 16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28" name="Text 17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09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BENCHMARK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 bilingual EN↔VN prompts — global harms meet local ones.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2468880" cy="2788920"/>
          </a:xfrm>
          <a:prstGeom prst="roundRect">
            <a:avLst>
              <a:gd name="adj" fmla="val 2963"/>
            </a:avLst>
          </a:prstGeom>
          <a:solidFill>
            <a:srgbClr val="111A33"/>
          </a:solidFill>
          <a:ln w="19050">
            <a:solidFill>
              <a:srgbClr val="5B8DE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05740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5B8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47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640080" y="29718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× 2 languages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005840" y="3456432"/>
            <a:ext cx="1737360" cy="0"/>
          </a:xfrm>
          <a:prstGeom prst="line">
            <a:avLst/>
          </a:prstGeom>
          <a:noFill/>
          <a:ln w="12700">
            <a:solidFill>
              <a:srgbClr val="0B102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3611880"/>
            <a:ext cx="2468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</a:t>
            </a:r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should-refuse</a:t>
            </a:r>
            <a:endParaRPr lang="en-US" sz="2200" dirty="0"/>
          </a:p>
          <a:p>
            <a:pPr algn="ctr" indent="0" marL="0">
              <a:spcAft>
                <a:spcPts val="600"/>
              </a:spcAft>
              <a:buNone/>
            </a:pPr>
            <a:r>
              <a:rPr lang="en-US" sz="2200" b="1" dirty="0">
                <a:solidFill>
                  <a:srgbClr val="2BD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pPr algn="ctr"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should-comply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3429000" y="1874520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29000" y="1874520"/>
            <a:ext cx="82296" cy="658368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03320" y="2011680"/>
            <a:ext cx="384048" cy="384048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4297680" y="1874520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5B8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5257800" y="1874520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7086600" y="2057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GLOBAL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321040" y="1874520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MultiJail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3429000" y="2679192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3429000" y="2679192"/>
            <a:ext cx="82296" cy="658368"/>
          </a:xfrm>
          <a:prstGeom prst="rect">
            <a:avLst/>
          </a:prstGeom>
          <a:solidFill>
            <a:srgbClr val="F0556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2816352"/>
            <a:ext cx="384048" cy="3840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4297680" y="2679192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20" name="Text 16"/>
          <p:cNvSpPr/>
          <p:nvPr/>
        </p:nvSpPr>
        <p:spPr>
          <a:xfrm>
            <a:off x="5257800" y="2679192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</a:t>
            </a:r>
            <a:endParaRPr lang="en-US" sz="1700" dirty="0"/>
          </a:p>
        </p:txBody>
      </p:sp>
      <p:sp>
        <p:nvSpPr>
          <p:cNvPr id="21" name="Text 17"/>
          <p:cNvSpPr/>
          <p:nvPr/>
        </p:nvSpPr>
        <p:spPr>
          <a:xfrm>
            <a:off x="7086600" y="286207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321040" y="2679192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 gov / AIS sources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3429000" y="3483864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3429000" y="3483864"/>
            <a:ext cx="82296" cy="658368"/>
          </a:xfrm>
          <a:prstGeom prst="rect">
            <a:avLst/>
          </a:prstGeom>
          <a:solidFill>
            <a:srgbClr val="F0556B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03320" y="3621024"/>
            <a:ext cx="384048" cy="384048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4297680" y="3483864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600" dirty="0"/>
          </a:p>
        </p:txBody>
      </p:sp>
      <p:sp>
        <p:nvSpPr>
          <p:cNvPr id="27" name="Text 22"/>
          <p:cNvSpPr/>
          <p:nvPr/>
        </p:nvSpPr>
        <p:spPr>
          <a:xfrm>
            <a:off x="5257800" y="348386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Medical</a:t>
            </a:r>
            <a:endParaRPr lang="en-US" sz="1700" dirty="0"/>
          </a:p>
        </p:txBody>
      </p:sp>
      <p:sp>
        <p:nvSpPr>
          <p:cNvPr id="28" name="Text 23"/>
          <p:cNvSpPr/>
          <p:nvPr/>
        </p:nvSpPr>
        <p:spPr>
          <a:xfrm>
            <a:off x="7086600" y="366674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LOCAL</a:t>
            </a:r>
            <a:endParaRPr lang="en-US" sz="1050" dirty="0"/>
          </a:p>
        </p:txBody>
      </p:sp>
      <p:sp>
        <p:nvSpPr>
          <p:cNvPr id="29" name="Text 24"/>
          <p:cNvSpPr/>
          <p:nvPr/>
        </p:nvSpPr>
        <p:spPr>
          <a:xfrm>
            <a:off x="8321040" y="3483864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Ministry of Health warnings</a:t>
            </a:r>
            <a:endParaRPr lang="en-US" sz="1300" dirty="0"/>
          </a:p>
        </p:txBody>
      </p:sp>
      <p:sp>
        <p:nvSpPr>
          <p:cNvPr id="30" name="Shape 25"/>
          <p:cNvSpPr/>
          <p:nvPr/>
        </p:nvSpPr>
        <p:spPr>
          <a:xfrm>
            <a:off x="3429000" y="4288536"/>
            <a:ext cx="8092440" cy="658368"/>
          </a:xfrm>
          <a:prstGeom prst="roundRect">
            <a:avLst>
              <a:gd name="adj" fmla="val 11111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3429000" y="4288536"/>
            <a:ext cx="82296" cy="658368"/>
          </a:xfrm>
          <a:prstGeom prst="rect">
            <a:avLst/>
          </a:prstGeom>
          <a:solidFill>
            <a:srgbClr val="2BD17E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3320" y="4425696"/>
            <a:ext cx="384048" cy="38404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4297680" y="4288536"/>
            <a:ext cx="868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2BD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2600" dirty="0"/>
          </a:p>
        </p:txBody>
      </p:sp>
      <p:sp>
        <p:nvSpPr>
          <p:cNvPr id="34" name="Text 28"/>
          <p:cNvSpPr/>
          <p:nvPr/>
        </p:nvSpPr>
        <p:spPr>
          <a:xfrm>
            <a:off x="5257800" y="4288536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</a:t>
            </a:r>
            <a:endParaRPr lang="en-US" sz="1700" dirty="0"/>
          </a:p>
        </p:txBody>
      </p:sp>
      <p:sp>
        <p:nvSpPr>
          <p:cNvPr id="35" name="Text 29"/>
          <p:cNvSpPr/>
          <p:nvPr/>
        </p:nvSpPr>
        <p:spPr>
          <a:xfrm>
            <a:off x="7086600" y="447141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2BD1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CONTROL</a:t>
            </a:r>
            <a:endParaRPr lang="en-US" sz="1050" dirty="0"/>
          </a:p>
        </p:txBody>
      </p:sp>
      <p:sp>
        <p:nvSpPr>
          <p:cNvPr id="36" name="Text 30"/>
          <p:cNvSpPr/>
          <p:nvPr/>
        </p:nvSpPr>
        <p:spPr>
          <a:xfrm>
            <a:off x="8321040" y="4288536"/>
            <a:ext cx="28803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over-refusal controls</a:t>
            </a:r>
            <a:endParaRPr lang="en-US" sz="1300" dirty="0"/>
          </a:p>
        </p:txBody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074920"/>
            <a:ext cx="411480" cy="4114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1234440" y="5029200"/>
            <a:ext cx="10332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harmful prompt cites a real Vietnamese source. </a:t>
            </a:r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controls catch over-refusal — an all-refuse model can’t fake a perfect score.</a:t>
            </a:r>
            <a:endParaRPr lang="en-US" sz="1500" dirty="0"/>
          </a:p>
        </p:txBody>
      </p:sp>
      <p:sp>
        <p:nvSpPr>
          <p:cNvPr id="39" name="Text 32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09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FINDING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Safety training is English. It doesn’t transfer to Vietnamese.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2331720" y="1554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720840" y="155448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Harmful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4114800"/>
            <a:ext cx="15544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Harmless</a:t>
            </a:r>
            <a:endParaRPr lang="en-US" sz="1600" dirty="0"/>
          </a:p>
          <a:p>
            <a:pPr algn="r" indent="0" marL="0">
              <a:buNone/>
            </a:pPr>
            <a:r>
              <a:rPr lang="en-US" sz="1600" b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2331720" y="20574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1341F"/>
          </a:solidFill>
          <a:ln w="25400">
            <a:solidFill>
              <a:srgbClr val="2BD17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2446020"/>
            <a:ext cx="822960" cy="8229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749040" y="2313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D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Refused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3749040" y="2953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the attack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20840" y="20574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3A1622"/>
          </a:solidFill>
          <a:ln w="25400">
            <a:solidFill>
              <a:srgbClr val="F05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6600" y="2446020"/>
            <a:ext cx="822960" cy="8229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138160" y="23134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Complied</a:t>
            </a:r>
            <a:endParaRPr lang="en-US" sz="2400" dirty="0"/>
          </a:p>
        </p:txBody>
      </p:sp>
      <p:sp>
        <p:nvSpPr>
          <p:cNvPr id="15" name="Text 11"/>
          <p:cNvSpPr/>
          <p:nvPr/>
        </p:nvSpPr>
        <p:spPr>
          <a:xfrm>
            <a:off x="8138160" y="29535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the attack</a:t>
            </a:r>
            <a:endParaRPr lang="en-US" sz="1350" dirty="0"/>
          </a:p>
        </p:txBody>
      </p:sp>
      <p:sp>
        <p:nvSpPr>
          <p:cNvPr id="16" name="Shape 12"/>
          <p:cNvSpPr/>
          <p:nvPr/>
        </p:nvSpPr>
        <p:spPr>
          <a:xfrm>
            <a:off x="2331720" y="38862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11341F"/>
          </a:solidFill>
          <a:ln w="25400">
            <a:solidFill>
              <a:srgbClr val="2BD17E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4274820"/>
            <a:ext cx="822960" cy="8229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749040" y="4142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D17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Helped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3749040" y="47823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answered the question</a:t>
            </a:r>
            <a:endParaRPr lang="en-US" sz="1350" dirty="0"/>
          </a:p>
        </p:txBody>
      </p:sp>
      <p:sp>
        <p:nvSpPr>
          <p:cNvPr id="20" name="Shape 15"/>
          <p:cNvSpPr/>
          <p:nvPr/>
        </p:nvSpPr>
        <p:spPr>
          <a:xfrm>
            <a:off x="6720840" y="3886200"/>
            <a:ext cx="4160520" cy="1600200"/>
          </a:xfrm>
          <a:prstGeom prst="roundRect">
            <a:avLst>
              <a:gd name="adj" fmla="val 5714"/>
            </a:avLst>
          </a:prstGeom>
          <a:solidFill>
            <a:srgbClr val="3A1622"/>
          </a:solidFill>
          <a:ln w="25400">
            <a:solidFill>
              <a:srgbClr val="F0556B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4274820"/>
            <a:ext cx="822960" cy="8229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8138160" y="41422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55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Refused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8138160" y="4782312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blocked a safe question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2331720" y="5650992"/>
            <a:ext cx="8549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2B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diagonals fail — in opposite directions — only in Vietnamese.</a:t>
            </a:r>
            <a:endParaRPr lang="en-US" sz="140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09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NUMBERS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qwen2.5-0.5b — a two-directional failure in Vietnamese.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2359152"/>
            <a:ext cx="402336" cy="40233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2093976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Jailbreaks refused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4114800" y="2221992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8" name="Shape 5"/>
          <p:cNvSpPr/>
          <p:nvPr/>
        </p:nvSpPr>
        <p:spPr>
          <a:xfrm>
            <a:off x="4114800" y="2221992"/>
            <a:ext cx="3154680" cy="274320"/>
          </a:xfrm>
          <a:prstGeom prst="rect">
            <a:avLst/>
          </a:prstGeom>
          <a:solidFill>
            <a:srgbClr val="2BD17E"/>
          </a:solidFill>
          <a:ln/>
        </p:spPr>
      </p:sp>
      <p:sp>
        <p:nvSpPr>
          <p:cNvPr id="9" name="Text 6"/>
          <p:cNvSpPr/>
          <p:nvPr/>
        </p:nvSpPr>
        <p:spPr>
          <a:xfrm>
            <a:off x="8823960" y="216712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1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18/26 · 69%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114800" y="2587752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1" name="Shape 8"/>
          <p:cNvSpPr/>
          <p:nvPr/>
        </p:nvSpPr>
        <p:spPr>
          <a:xfrm>
            <a:off x="4114800" y="2587752"/>
            <a:ext cx="2834640" cy="274320"/>
          </a:xfrm>
          <a:prstGeom prst="rect">
            <a:avLst/>
          </a:prstGeom>
          <a:solidFill>
            <a:srgbClr val="F0556B"/>
          </a:solidFill>
          <a:ln/>
        </p:spPr>
      </p:sp>
      <p:sp>
        <p:nvSpPr>
          <p:cNvPr id="12" name="Text 9"/>
          <p:cNvSpPr/>
          <p:nvPr/>
        </p:nvSpPr>
        <p:spPr>
          <a:xfrm>
            <a:off x="8823960" y="253288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 16/26 · 62%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646920" y="2093976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WEAKER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40080" y="3319272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3712464"/>
            <a:ext cx="402336" cy="4023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371600" y="3447288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Benign refused (lower = better)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4114800" y="3575304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18" name="Shape 14"/>
          <p:cNvSpPr/>
          <p:nvPr/>
        </p:nvSpPr>
        <p:spPr>
          <a:xfrm>
            <a:off x="4114800" y="3575304"/>
            <a:ext cx="45720" cy="274320"/>
          </a:xfrm>
          <a:prstGeom prst="rect">
            <a:avLst/>
          </a:prstGeom>
          <a:solidFill>
            <a:srgbClr val="2BD17E"/>
          </a:solidFill>
          <a:ln/>
        </p:spPr>
      </p:sp>
      <p:sp>
        <p:nvSpPr>
          <p:cNvPr id="19" name="Text 15"/>
          <p:cNvSpPr/>
          <p:nvPr/>
        </p:nvSpPr>
        <p:spPr>
          <a:xfrm>
            <a:off x="8823960" y="3520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1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0/5 · 0%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114800" y="3941064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21" name="Shape 17"/>
          <p:cNvSpPr/>
          <p:nvPr/>
        </p:nvSpPr>
        <p:spPr>
          <a:xfrm>
            <a:off x="4114800" y="3941064"/>
            <a:ext cx="2743200" cy="274320"/>
          </a:xfrm>
          <a:prstGeom prst="rect">
            <a:avLst/>
          </a:prstGeom>
          <a:solidFill>
            <a:srgbClr val="F0556B"/>
          </a:solidFill>
          <a:ln/>
        </p:spPr>
      </p:sp>
      <p:sp>
        <p:nvSpPr>
          <p:cNvPr id="22" name="Text 18"/>
          <p:cNvSpPr/>
          <p:nvPr/>
        </p:nvSpPr>
        <p:spPr>
          <a:xfrm>
            <a:off x="8823960" y="38862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 3/5 · 60%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9646920" y="3447288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F055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OVER-CAUTIOUS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640080" y="4672584"/>
            <a:ext cx="10908792" cy="1188720"/>
          </a:xfrm>
          <a:prstGeom prst="roundRect">
            <a:avLst>
              <a:gd name="adj" fmla="val 6154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5065776"/>
            <a:ext cx="402336" cy="40233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1371600" y="4800600"/>
            <a:ext cx="26974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Scam + medical refused</a:t>
            </a:r>
            <a:endParaRPr lang="en-US" sz="1500" dirty="0"/>
          </a:p>
        </p:txBody>
      </p:sp>
      <p:sp>
        <p:nvSpPr>
          <p:cNvPr id="27" name="Shape 22"/>
          <p:cNvSpPr/>
          <p:nvPr/>
        </p:nvSpPr>
        <p:spPr>
          <a:xfrm>
            <a:off x="4114800" y="4928616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28" name="Shape 23"/>
          <p:cNvSpPr/>
          <p:nvPr/>
        </p:nvSpPr>
        <p:spPr>
          <a:xfrm>
            <a:off x="4114800" y="4928616"/>
            <a:ext cx="2560320" cy="274320"/>
          </a:xfrm>
          <a:prstGeom prst="rect">
            <a:avLst/>
          </a:prstGeom>
          <a:solidFill>
            <a:srgbClr val="2BD17E"/>
          </a:solidFill>
          <a:ln/>
        </p:spPr>
      </p:sp>
      <p:sp>
        <p:nvSpPr>
          <p:cNvPr id="29" name="Text 24"/>
          <p:cNvSpPr/>
          <p:nvPr/>
        </p:nvSpPr>
        <p:spPr>
          <a:xfrm>
            <a:off x="8823960" y="4873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D17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 9/16 · 56%</a:t>
            </a:r>
            <a:endParaRPr lang="en-US" sz="1200" dirty="0"/>
          </a:p>
        </p:txBody>
      </p:sp>
      <p:sp>
        <p:nvSpPr>
          <p:cNvPr id="30" name="Shape 25"/>
          <p:cNvSpPr/>
          <p:nvPr/>
        </p:nvSpPr>
        <p:spPr>
          <a:xfrm>
            <a:off x="4114800" y="5294376"/>
            <a:ext cx="4572000" cy="274320"/>
          </a:xfrm>
          <a:prstGeom prst="rect">
            <a:avLst/>
          </a:prstGeom>
          <a:solidFill>
            <a:srgbClr val="0B1020"/>
          </a:solidFill>
          <a:ln/>
        </p:spPr>
      </p:sp>
      <p:sp>
        <p:nvSpPr>
          <p:cNvPr id="31" name="Shape 26"/>
          <p:cNvSpPr/>
          <p:nvPr/>
        </p:nvSpPr>
        <p:spPr>
          <a:xfrm>
            <a:off x="4114800" y="5294376"/>
            <a:ext cx="4023360" cy="274320"/>
          </a:xfrm>
          <a:prstGeom prst="rect">
            <a:avLst/>
          </a:prstGeom>
          <a:solidFill>
            <a:srgbClr val="F2B541"/>
          </a:solidFill>
          <a:ln/>
        </p:spPr>
      </p:sp>
      <p:sp>
        <p:nvSpPr>
          <p:cNvPr id="32" name="Text 27"/>
          <p:cNvSpPr/>
          <p:nvPr/>
        </p:nvSpPr>
        <p:spPr>
          <a:xfrm>
            <a:off x="8823960" y="523951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2B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VN 14/16 · 88%</a:t>
            </a:r>
            <a:endParaRPr lang="en-US" sz="1200" dirty="0"/>
          </a:p>
        </p:txBody>
      </p:sp>
      <p:sp>
        <p:nvSpPr>
          <p:cNvPr id="33" name="Text 28"/>
          <p:cNvSpPr/>
          <p:nvPr/>
        </p:nvSpPr>
        <p:spPr>
          <a:xfrm>
            <a:off x="9646920" y="4800600"/>
            <a:ext cx="1627632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100" kern="0" dirty="0">
                <a:solidFill>
                  <a:srgbClr val="F2B54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SURPRISE: SAFER</a:t>
            </a:r>
            <a:endParaRPr lang="en-US" sz="1050" dirty="0"/>
          </a:p>
        </p:txBody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5870448"/>
            <a:ext cx="384048" cy="384048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1188720" y="5833872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Under-refuses real attacks AND over-refuses harmless questions. </a:t>
            </a:r>
            <a:pPr indent="0" marL="0">
              <a:buNone/>
            </a:pPr>
            <a:r>
              <a:rPr lang="en-US" sz="14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cuts both ways — and is worst on local harms.</a:t>
            </a:r>
            <a:endParaRPr lang="en-US" sz="1450" dirty="0"/>
          </a:p>
        </p:txBody>
      </p:sp>
      <p:sp>
        <p:nvSpPr>
          <p:cNvPr id="36" name="Text 30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37" name="Text 31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09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LIMITATIONS +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Directional, not final — and a clear path to make it citable.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111A33"/>
          </a:solidFill>
          <a:ln w="19050">
            <a:solidFill>
              <a:srgbClr val="F0556B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2167128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2167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Honest limitations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005840" y="292608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small model (qwen2.5-0.5b)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94-answer run — directional, not citable-final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TEE / remote attestation is mocked in stage-1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47-prompt set is small; refusal scoring heuristic (+ optional LLM judge)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263640" y="1874520"/>
            <a:ext cx="5257800" cy="3611880"/>
          </a:xfrm>
          <a:prstGeom prst="roundRect">
            <a:avLst>
              <a:gd name="adj" fmla="val 2025"/>
            </a:avLst>
          </a:prstGeom>
          <a:solidFill>
            <a:srgbClr val="111A33"/>
          </a:solidFill>
          <a:ln w="19050">
            <a:solidFill>
              <a:srgbClr val="2BD17E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2167128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7178040" y="2167128"/>
            <a:ext cx="4160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6629400" y="2926080"/>
            <a:ext cx="45262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enclave + GCP Confidential Space (stages 2 &amp; 3)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Bigger models, already wired: qwen2.5-3b · phogpt-4b · seallm-v3-7b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the benchmark</a:t>
            </a:r>
            <a:endParaRPr lang="en-US" sz="1500" dirty="0"/>
          </a:p>
          <a:p>
            <a:pPr marL="342900" indent="-342900">
              <a:lnSpc>
                <a:spcPct val="110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E8EE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Tagalog companion set — show the local-harm gap generalises across SEA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TEE being mocked is a credibility note, not the contribution — the architecture is real, the hardware seal is the only thing stubbed.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640080" y="6473952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Blindfold</a:t>
            </a:r>
            <a:pPr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Global South AI Safety Hackathon · Apart × AnToàn.AI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0637215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97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09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0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9464040" y="411480"/>
            <a:ext cx="1920240" cy="19202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8D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WHAT WE CONTRIBUTED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40080" y="9601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things that didn’t exist before.</a:t>
            </a:r>
            <a:endParaRPr lang="en-US" sz="3400" dirty="0"/>
          </a:p>
        </p:txBody>
      </p:sp>
      <p:sp>
        <p:nvSpPr>
          <p:cNvPr id="6" name="Shape 3"/>
          <p:cNvSpPr/>
          <p:nvPr/>
        </p:nvSpPr>
        <p:spPr>
          <a:xfrm>
            <a:off x="64008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40080" y="2148840"/>
            <a:ext cx="3520440" cy="82296"/>
          </a:xfrm>
          <a:prstGeom prst="rect">
            <a:avLst/>
          </a:prstGeom>
          <a:solidFill>
            <a:srgbClr val="5B8DE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246888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6012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Blind-audit harness</a:t>
            </a:r>
            <a:endParaRPr lang="en-US" sz="1700" dirty="0"/>
          </a:p>
        </p:txBody>
      </p:sp>
      <p:sp>
        <p:nvSpPr>
          <p:cNvPr id="10" name="Text 6"/>
          <p:cNvSpPr/>
          <p:nvPr/>
        </p:nvSpPr>
        <p:spPr>
          <a:xfrm>
            <a:off x="960120" y="34472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secrets meet in a sealed enclave on syft-client — only a signed scorecard exits.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448056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480560" y="2148840"/>
            <a:ext cx="3520440" cy="82296"/>
          </a:xfrm>
          <a:prstGeom prst="rect">
            <a:avLst/>
          </a:prstGeom>
          <a:solidFill>
            <a:srgbClr val="F2B541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2468880"/>
            <a:ext cx="502920" cy="50292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80060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Local-harms benchmark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800600" y="34472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 bilingual EN↔VN prompts; every harmful one cites a real Vietnamese source.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8321040" y="2148840"/>
            <a:ext cx="3520440" cy="1828800"/>
          </a:xfrm>
          <a:prstGeom prst="roundRect">
            <a:avLst>
              <a:gd name="adj" fmla="val 4000"/>
            </a:avLst>
          </a:prstGeom>
          <a:solidFill>
            <a:srgbClr val="16213E"/>
          </a:solidFill>
          <a:ln w="12700">
            <a:solidFill>
              <a:srgbClr val="111A33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321040" y="2148840"/>
            <a:ext cx="3520440" cy="82296"/>
          </a:xfrm>
          <a:prstGeom prst="rect">
            <a:avLst/>
          </a:prstGeom>
          <a:solidFill>
            <a:srgbClr val="2BD17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468880"/>
            <a:ext cx="502920" cy="50292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8641080" y="306324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EEF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measured gap</a:t>
            </a:r>
            <a:endParaRPr lang="en-US" sz="1700" dirty="0"/>
          </a:p>
        </p:txBody>
      </p:sp>
      <p:sp>
        <p:nvSpPr>
          <p:cNvPr id="20" name="Text 14"/>
          <p:cNvSpPr/>
          <p:nvPr/>
        </p:nvSpPr>
        <p:spPr>
          <a:xfrm>
            <a:off x="8641080" y="3447288"/>
            <a:ext cx="2880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 safety doesn’t transfer to Vietnamese — it fails both ways.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640080" y="4526280"/>
            <a:ext cx="10908792" cy="1325880"/>
          </a:xfrm>
          <a:prstGeom prst="roundRect">
            <a:avLst>
              <a:gd name="adj" fmla="val 6897"/>
            </a:avLst>
          </a:prstGeom>
          <a:solidFill>
            <a:srgbClr val="111A33"/>
          </a:solidFill>
          <a:ln w="19050">
            <a:solidFill>
              <a:srgbClr val="5B8DEF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1005840" y="4754880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i="1" dirty="0">
                <a:solidFill>
                  <a:srgbClr val="5B8D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Audit the blind spot — blindly.</a:t>
            </a:r>
            <a:endParaRPr lang="en-US" sz="2400" dirty="0"/>
          </a:p>
        </p:txBody>
      </p:sp>
      <p:sp>
        <p:nvSpPr>
          <p:cNvPr id="23" name="Text 17"/>
          <p:cNvSpPr/>
          <p:nvPr/>
        </p:nvSpPr>
        <p:spPr>
          <a:xfrm>
            <a:off x="1005840" y="5230368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Trust-minimized by construction: labs audited on local harms without leaking weights; local safety orgs contribute benchmarks without leaking them.</a:t>
            </a:r>
            <a:endParaRPr lang="en-US" sz="1250" dirty="0"/>
          </a:p>
        </p:txBody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0" y="4992624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8430768" y="4956048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EEF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github.com/khoaguin/blindfold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8430768" y="5413248"/>
            <a:ext cx="3154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8D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eval yourself →</a:t>
            </a:r>
            <a:endParaRPr lang="en-US" sz="1200" dirty="0"/>
          </a:p>
        </p:txBody>
      </p:sp>
      <p:sp>
        <p:nvSpPr>
          <p:cNvPr id="27" name="Text 20"/>
          <p:cNvSpPr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A97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South AI Safety Hackathon  ·  Apart × AnToàn.AI  ·  Ho Chi Minh City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Blindfold — Auditing the Vietnamese Safety Blind Spot, Blindly</dc:title>
  <dc:subject>PptxGenJS Presentation</dc:subject>
  <dc:creator>Blindfold</dc:creator>
  <cp:lastModifiedBy>Blindfold</cp:lastModifiedBy>
  <cp:revision>1</cp:revision>
  <dcterms:created xsi:type="dcterms:W3CDTF">2026-06-21T04:55:56Z</dcterms:created>
  <dcterms:modified xsi:type="dcterms:W3CDTF">2026-06-21T04:55:56Z</dcterms:modified>
</cp:coreProperties>
</file>